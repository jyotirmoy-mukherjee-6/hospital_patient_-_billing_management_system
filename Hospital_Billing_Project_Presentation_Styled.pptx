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0" r:id="rId1"/>
  </p:sldMasterIdLst>
  <p:sldIdLst>
    <p:sldId id="256" r:id="rId2"/>
    <p:sldId id="268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6" r:id="rId11"/>
    <p:sldId id="267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7" d="100"/>
          <a:sy n="87" d="100"/>
        </p:scale>
        <p:origin x="1220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102240" y="2386744"/>
            <a:ext cx="693952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5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21396" y="4352544"/>
            <a:ext cx="5101209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1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19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68130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1031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106424" y="2386744"/>
            <a:ext cx="6940296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5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21396" y="4352465"/>
            <a:ext cx="5101209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1900">
                <a:solidFill>
                  <a:schemeClr val="tx1"/>
                </a:solidFill>
              </a:defRPr>
            </a:lvl1pPr>
            <a:lvl2pPr marL="4572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94262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2239" y="2638044"/>
            <a:ext cx="3288023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53737" y="2638044"/>
            <a:ext cx="3290516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74763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2239" y="2313434"/>
            <a:ext cx="3288024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2239" y="3143250"/>
            <a:ext cx="3288024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737" y="3143250"/>
            <a:ext cx="3290516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4753737" y="2313434"/>
            <a:ext cx="3290516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37420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584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63588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640703" y="2243829"/>
            <a:ext cx="3290594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1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52060" y="804672"/>
            <a:ext cx="361188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2965" y="3549918"/>
            <a:ext cx="284607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640703" y="6236208"/>
            <a:ext cx="3806398" cy="320040"/>
          </a:xfrm>
        </p:spPr>
        <p:txBody>
          <a:bodyPr>
            <a:normAutofit/>
          </a:bodyPr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963218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1" y="0"/>
            <a:ext cx="4571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640080" y="2243828"/>
            <a:ext cx="3291840" cy="1143000"/>
          </a:xfrm>
          <a:solidFill>
            <a:srgbClr val="FFFFFF"/>
          </a:solidFill>
          <a:ln>
            <a:solidFill>
              <a:srgbClr val="262626"/>
            </a:solidFill>
          </a:ln>
        </p:spPr>
        <p:txBody>
          <a:bodyPr anchor="ctr" anchorCtr="1">
            <a:noAutofit/>
          </a:bodyPr>
          <a:lstStyle>
            <a:lvl1pPr>
              <a:defRPr sz="21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572000" y="0"/>
            <a:ext cx="4576573" cy="6858000"/>
          </a:xfrm>
          <a:solidFill>
            <a:schemeClr val="tx1"/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2965" y="3549919"/>
            <a:ext cx="284607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640080" y="6236208"/>
            <a:ext cx="3803904" cy="320040"/>
          </a:xfrm>
        </p:spPr>
        <p:txBody>
          <a:bodyPr>
            <a:normAutofit/>
          </a:bodyPr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040263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69423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89834" y="937260"/>
            <a:ext cx="1053966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606046" y="937260"/>
            <a:ext cx="4716174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12519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1606045" y="964692"/>
            <a:ext cx="5937755" cy="1188720"/>
          </a:xfrm>
          <a:prstGeom prst="rect">
            <a:avLst/>
          </a:prstGeom>
          <a:solidFill>
            <a:schemeClr val="bg2">
              <a:lumMod val="60000"/>
              <a:lumOff val="40000"/>
              <a:alpha val="15000"/>
            </a:schemeClr>
          </a:solidFill>
          <a:ln w="317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06045" y="2638045"/>
            <a:ext cx="5937755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78943" y="6238816"/>
            <a:ext cx="2065310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02239" y="6236208"/>
            <a:ext cx="4556664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40112" y="6217920"/>
            <a:ext cx="365760" cy="365760"/>
          </a:xfrm>
          <a:prstGeom prst="ellipse">
            <a:avLst/>
          </a:prstGeom>
          <a:solidFill>
            <a:srgbClr val="1D1D1D">
              <a:alpha val="69804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441105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600" kern="1200" cap="all" spc="200" baseline="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44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9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28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3C7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04660" y="1452250"/>
            <a:ext cx="5601042" cy="1239894"/>
          </a:xfrm>
        </p:spPr>
        <p:txBody>
          <a:bodyPr/>
          <a:lstStyle/>
          <a:p>
            <a:r>
              <a:rPr sz="1800" dirty="0">
                <a:solidFill>
                  <a:srgbClr val="FFFFFF"/>
                </a:solidFill>
              </a:rPr>
              <a:t>Excel-Based Data Analytics &amp; Billing </a:t>
            </a:r>
            <a:r>
              <a:rPr sz="1800" dirty="0" err="1">
                <a:solidFill>
                  <a:srgbClr val="FFFFFF"/>
                </a:solidFill>
              </a:rPr>
              <a:t>Automatio</a:t>
            </a:r>
            <a:r>
              <a:rPr lang="en-IN" sz="1800" dirty="0">
                <a:solidFill>
                  <a:srgbClr val="FFFFFF"/>
                </a:solidFill>
              </a:rPr>
              <a:t>n </a:t>
            </a:r>
            <a:r>
              <a:rPr sz="1800" dirty="0">
                <a:solidFill>
                  <a:srgbClr val="FFFFFF"/>
                </a:solidFill>
              </a:rPr>
              <a:t>Project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F9DC33A-5256-1B2F-AF57-06CD64F9DE7D}"/>
              </a:ext>
            </a:extLst>
          </p:cNvPr>
          <p:cNvSpPr txBox="1"/>
          <p:nvPr/>
        </p:nvSpPr>
        <p:spPr>
          <a:xfrm>
            <a:off x="826618" y="3704192"/>
            <a:ext cx="4572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dirty="0">
                <a:solidFill>
                  <a:srgbClr val="FFFFFF"/>
                </a:solidFill>
              </a:rPr>
              <a:t>Developed By:
Jyotirmoy Mukherjee
Swaraj Das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57CF21-420C-6B74-AF39-7DDF7D60E2C5}"/>
              </a:ext>
            </a:extLst>
          </p:cNvPr>
          <p:cNvSpPr txBox="1"/>
          <p:nvPr/>
        </p:nvSpPr>
        <p:spPr>
          <a:xfrm>
            <a:off x="826618" y="929030"/>
            <a:ext cx="774679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solidFill>
                  <a:srgbClr val="FFFFFF"/>
                </a:solidFill>
              </a:rPr>
              <a:t>Hospital Patient Billing Management System</a:t>
            </a:r>
            <a:endParaRPr lang="en-IN" sz="2800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 dirty="0">
                <a:solidFill>
                  <a:srgbClr val="FFFFFF"/>
                </a:solidFill>
              </a:rPr>
              <a:t>Need of This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sz="2000" dirty="0">
                <a:solidFill>
                  <a:srgbClr val="F0F0F0"/>
                </a:solidFill>
              </a:rPr>
              <a:t>• Manual hospital billing systems are time-consuming and prone to errors</a:t>
            </a:r>
          </a:p>
          <a:p>
            <a:r>
              <a:rPr sz="2000" dirty="0">
                <a:solidFill>
                  <a:srgbClr val="F0F0F0"/>
                </a:solidFill>
              </a:rPr>
              <a:t>• Managing patient records manually creates difficulties in tracking information</a:t>
            </a:r>
          </a:p>
          <a:p>
            <a:r>
              <a:rPr sz="2000" dirty="0">
                <a:solidFill>
                  <a:srgbClr val="F0F0F0"/>
                </a:solidFill>
              </a:rPr>
              <a:t>• Data organization and analytics are essential for better decision making</a:t>
            </a:r>
          </a:p>
          <a:p>
            <a:r>
              <a:rPr sz="2000" dirty="0">
                <a:solidFill>
                  <a:srgbClr val="F0F0F0"/>
                </a:solidFill>
              </a:rPr>
              <a:t>• Automation helps reduce workload and improves operational efficiency</a:t>
            </a:r>
          </a:p>
          <a:p>
            <a:r>
              <a:rPr sz="2000" dirty="0">
                <a:solidFill>
                  <a:srgbClr val="F0F0F0"/>
                </a:solidFill>
              </a:rPr>
              <a:t>• An Excel-based solution provides a low-cost and user-friendly management system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5A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FFFFFF"/>
                </a:solidFill>
              </a:rP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 dirty="0">
                <a:solidFill>
                  <a:srgbClr val="FFFFFF"/>
                </a:solidFill>
              </a:rPr>
              <a:t>• Developed a complete hospital patient &amp; billing management system using Microsoft Excel</a:t>
            </a:r>
          </a:p>
          <a:p>
            <a:r>
              <a:rPr sz="1800" dirty="0">
                <a:solidFill>
                  <a:srgbClr val="FFFFFF"/>
                </a:solidFill>
              </a:rPr>
              <a:t>• Built interactive dashboards and automated workflows using Excel features</a:t>
            </a:r>
          </a:p>
          <a:p>
            <a:r>
              <a:rPr sz="1800" dirty="0">
                <a:solidFill>
                  <a:srgbClr val="FFFFFF"/>
                </a:solidFill>
              </a:rPr>
              <a:t>• Performed data cleaning and validation for reliable reporting</a:t>
            </a:r>
          </a:p>
          <a:p>
            <a:r>
              <a:rPr sz="1800" dirty="0">
                <a:solidFill>
                  <a:srgbClr val="FFFFFF"/>
                </a:solidFill>
              </a:rPr>
              <a:t>• Integrated patient records, and analytics into one system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467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FFFFFF"/>
                </a:solidFill>
              </a:rP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sz="1800" dirty="0">
                <a:solidFill>
                  <a:srgbClr val="FFFFFF"/>
                </a:solidFill>
              </a:rPr>
              <a:t>• Interactive Excel Dashboard</a:t>
            </a:r>
          </a:p>
          <a:p>
            <a:r>
              <a:rPr sz="1800" dirty="0">
                <a:solidFill>
                  <a:srgbClr val="FFFFFF"/>
                </a:solidFill>
              </a:rPr>
              <a:t>• Patient Record Management</a:t>
            </a:r>
          </a:p>
          <a:p>
            <a:r>
              <a:rPr sz="1800" dirty="0">
                <a:solidFill>
                  <a:srgbClr val="FFFFFF"/>
                </a:solidFill>
              </a:rPr>
              <a:t>• Payment Tracking</a:t>
            </a:r>
          </a:p>
          <a:p>
            <a:r>
              <a:rPr sz="1800" dirty="0">
                <a:solidFill>
                  <a:srgbClr val="FFFFFF"/>
                </a:solidFill>
              </a:rPr>
              <a:t>• Automated Calculations using Formulas</a:t>
            </a:r>
          </a:p>
          <a:p>
            <a:r>
              <a:rPr sz="1800" dirty="0">
                <a:solidFill>
                  <a:srgbClr val="FFFFFF"/>
                </a:solidFill>
              </a:rPr>
              <a:t>• Conditional Formatting for Alerts &amp; Highlights</a:t>
            </a:r>
          </a:p>
          <a:p>
            <a:r>
              <a:rPr sz="1800" dirty="0">
                <a:solidFill>
                  <a:srgbClr val="FFFFFF"/>
                </a:solidFill>
              </a:rPr>
              <a:t>• Macros for Workflow Automation</a:t>
            </a:r>
          </a:p>
          <a:p>
            <a:r>
              <a:rPr sz="1800" dirty="0">
                <a:solidFill>
                  <a:srgbClr val="FFFFFF"/>
                </a:solidFill>
              </a:rPr>
              <a:t>• Lookup Functions VLOOKUP</a:t>
            </a:r>
          </a:p>
          <a:p>
            <a:r>
              <a:rPr sz="1800" dirty="0">
                <a:solidFill>
                  <a:srgbClr val="FFFFFF"/>
                </a:solidFill>
              </a:rPr>
              <a:t>• Data Cleaning &amp; Validation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50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FFFFFF"/>
                </a:solidFill>
              </a:rPr>
              <a:t>Workbook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sz="1800" dirty="0">
                <a:solidFill>
                  <a:srgbClr val="FFFFFF"/>
                </a:solidFill>
              </a:rPr>
              <a:t>Sheets included in the project:</a:t>
            </a:r>
          </a:p>
          <a:p>
            <a:pPr marL="0" indent="0">
              <a:buNone/>
            </a:pPr>
            <a:endParaRPr sz="1800" dirty="0">
              <a:solidFill>
                <a:srgbClr val="FFFFFF"/>
              </a:solidFill>
            </a:endParaRPr>
          </a:p>
          <a:p>
            <a:r>
              <a:rPr sz="1800" dirty="0">
                <a:solidFill>
                  <a:srgbClr val="FFFFFF"/>
                </a:solidFill>
              </a:rPr>
              <a:t>• </a:t>
            </a:r>
            <a:r>
              <a:rPr sz="1800" dirty="0" err="1">
                <a:solidFill>
                  <a:srgbClr val="FFFFFF"/>
                </a:solidFill>
              </a:rPr>
              <a:t>Patient_Dashboard</a:t>
            </a:r>
            <a:endParaRPr sz="1800" dirty="0">
              <a:solidFill>
                <a:srgbClr val="FFFFFF"/>
              </a:solidFill>
            </a:endParaRPr>
          </a:p>
          <a:p>
            <a:r>
              <a:rPr sz="1800" dirty="0">
                <a:solidFill>
                  <a:srgbClr val="FFFFFF"/>
                </a:solidFill>
              </a:rPr>
              <a:t>• </a:t>
            </a:r>
            <a:r>
              <a:rPr sz="1800" dirty="0" err="1">
                <a:solidFill>
                  <a:srgbClr val="FFFFFF"/>
                </a:solidFill>
              </a:rPr>
              <a:t>Search_Patient</a:t>
            </a:r>
            <a:endParaRPr sz="1800" dirty="0">
              <a:solidFill>
                <a:srgbClr val="FFFFFF"/>
              </a:solidFill>
            </a:endParaRPr>
          </a:p>
          <a:p>
            <a:r>
              <a:rPr sz="1800" dirty="0">
                <a:solidFill>
                  <a:srgbClr val="FFFFFF"/>
                </a:solidFill>
              </a:rPr>
              <a:t>• RAW_DATA</a:t>
            </a:r>
          </a:p>
          <a:p>
            <a:r>
              <a:rPr sz="1800" dirty="0">
                <a:solidFill>
                  <a:srgbClr val="FFFFFF"/>
                </a:solidFill>
              </a:rPr>
              <a:t>• </a:t>
            </a:r>
            <a:r>
              <a:rPr sz="1800" dirty="0" err="1">
                <a:solidFill>
                  <a:srgbClr val="FFFFFF"/>
                </a:solidFill>
              </a:rPr>
              <a:t>data_entry</a:t>
            </a:r>
            <a:endParaRPr sz="1800" dirty="0">
              <a:solidFill>
                <a:srgbClr val="FFFFFF"/>
              </a:solidFill>
            </a:endParaRPr>
          </a:p>
          <a:p>
            <a:r>
              <a:rPr sz="1800" dirty="0">
                <a:solidFill>
                  <a:srgbClr val="FFFFFF"/>
                </a:solidFill>
              </a:rPr>
              <a:t>• DATA_BASE</a:t>
            </a:r>
          </a:p>
          <a:p>
            <a:r>
              <a:rPr sz="1800" dirty="0">
                <a:solidFill>
                  <a:srgbClr val="FFFFFF"/>
                </a:solidFill>
              </a:rPr>
              <a:t>• CLEAN_DATA</a:t>
            </a:r>
          </a:p>
          <a:p>
            <a:r>
              <a:rPr sz="1800" dirty="0">
                <a:solidFill>
                  <a:srgbClr val="FFFFFF"/>
                </a:solidFill>
              </a:rPr>
              <a:t>• Home</a:t>
            </a:r>
          </a:p>
          <a:p>
            <a:r>
              <a:rPr sz="1800" dirty="0">
                <a:solidFill>
                  <a:srgbClr val="FFFFFF"/>
                </a:solidFill>
              </a:rPr>
              <a:t>• </a:t>
            </a:r>
            <a:r>
              <a:rPr sz="1800" dirty="0" err="1">
                <a:solidFill>
                  <a:srgbClr val="FFFFFF"/>
                </a:solidFill>
              </a:rPr>
              <a:t>Hospital_Dashboard</a:t>
            </a:r>
            <a:endParaRPr sz="1800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6287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FFFFFF"/>
                </a:solidFill>
              </a:rPr>
              <a:t>Data Cleaning Techniques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>
                <a:solidFill>
                  <a:srgbClr val="FFFFFF"/>
                </a:solidFill>
              </a:rPr>
              <a:t>• Removed duplicate records</a:t>
            </a:r>
          </a:p>
          <a:p>
            <a:r>
              <a:rPr sz="1800">
                <a:solidFill>
                  <a:srgbClr val="FFFFFF"/>
                </a:solidFill>
              </a:rPr>
              <a:t>• Standardized date and billing formats</a:t>
            </a:r>
          </a:p>
          <a:p>
            <a:r>
              <a:rPr sz="1800">
                <a:solidFill>
                  <a:srgbClr val="FFFFFF"/>
                </a:solidFill>
              </a:rPr>
              <a:t>• Corrected missing or inconsistent values</a:t>
            </a:r>
          </a:p>
          <a:p>
            <a:r>
              <a:rPr sz="1800">
                <a:solidFill>
                  <a:srgbClr val="FFFFFF"/>
                </a:solidFill>
              </a:rPr>
              <a:t>• Applied Data Validation rules</a:t>
            </a:r>
          </a:p>
          <a:p>
            <a:r>
              <a:rPr sz="1800">
                <a:solidFill>
                  <a:srgbClr val="FFFFFF"/>
                </a:solidFill>
              </a:rPr>
              <a:t>• Organized structured tabular datasets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64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FFFFFF"/>
                </a:solidFill>
              </a:rPr>
              <a:t>Excel Tools &amp; Technologies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 dirty="0">
                <a:solidFill>
                  <a:srgbClr val="FFFFFF"/>
                </a:solidFill>
              </a:rPr>
              <a:t>• Pivot Tables &amp; Pivot Charts</a:t>
            </a:r>
          </a:p>
          <a:p>
            <a:r>
              <a:rPr sz="1800" dirty="0">
                <a:solidFill>
                  <a:srgbClr val="FFFFFF"/>
                </a:solidFill>
              </a:rPr>
              <a:t>• Conditional Formatting</a:t>
            </a:r>
          </a:p>
          <a:p>
            <a:r>
              <a:rPr sz="1800" dirty="0">
                <a:solidFill>
                  <a:srgbClr val="FFFFFF"/>
                </a:solidFill>
              </a:rPr>
              <a:t>• Macros</a:t>
            </a:r>
          </a:p>
          <a:p>
            <a:r>
              <a:rPr sz="1800" dirty="0">
                <a:solidFill>
                  <a:srgbClr val="FFFFFF"/>
                </a:solidFill>
              </a:rPr>
              <a:t>• VLOOKUP / Lookup Functions</a:t>
            </a:r>
          </a:p>
          <a:p>
            <a:r>
              <a:rPr sz="1800" dirty="0">
                <a:solidFill>
                  <a:srgbClr val="FFFFFF"/>
                </a:solidFill>
              </a:rPr>
              <a:t>• IF, SUMIF, COUNTIF Functions</a:t>
            </a:r>
          </a:p>
          <a:p>
            <a:r>
              <a:rPr sz="1800" dirty="0">
                <a:solidFill>
                  <a:srgbClr val="FFFFFF"/>
                </a:solidFill>
              </a:rPr>
              <a:t>• Slicers &amp; Interactive Filters</a:t>
            </a:r>
          </a:p>
          <a:p>
            <a:r>
              <a:rPr sz="1800" dirty="0">
                <a:solidFill>
                  <a:srgbClr val="FFFFFF"/>
                </a:solidFill>
              </a:rPr>
              <a:t>• Dashboard Design Techniques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032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FFFFFF"/>
                </a:solidFill>
              </a:rPr>
              <a:t>Project Benefits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>
                <a:solidFill>
                  <a:srgbClr val="FFFFFF"/>
                </a:solidFill>
              </a:rPr>
              <a:t>• Faster patient billing process</a:t>
            </a:r>
          </a:p>
          <a:p>
            <a:r>
              <a:rPr sz="1800">
                <a:solidFill>
                  <a:srgbClr val="FFFFFF"/>
                </a:solidFill>
              </a:rPr>
              <a:t>• Reduced manual calculation errors</a:t>
            </a:r>
          </a:p>
          <a:p>
            <a:r>
              <a:rPr sz="1800">
                <a:solidFill>
                  <a:srgbClr val="FFFFFF"/>
                </a:solidFill>
              </a:rPr>
              <a:t>• Easy monitoring of hospital operations</a:t>
            </a:r>
          </a:p>
          <a:p>
            <a:r>
              <a:rPr sz="1800">
                <a:solidFill>
                  <a:srgbClr val="FFFFFF"/>
                </a:solidFill>
              </a:rPr>
              <a:t>• Improved data organization and reporting</a:t>
            </a:r>
          </a:p>
          <a:p>
            <a:r>
              <a:rPr sz="1800">
                <a:solidFill>
                  <a:srgbClr val="FFFFFF"/>
                </a:solidFill>
              </a:rPr>
              <a:t>• User-friendly and fully Excel-based solution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FFFFFF"/>
                </a:solidFill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>
                <a:solidFill>
                  <a:srgbClr val="FFFFFF"/>
                </a:solidFill>
              </a:rPr>
              <a:t>This project demonstrates practical implementation of Excel for hospital management, billing automation, dashboard reporting, and data analytics.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467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FFFFFF"/>
                </a:solidFill>
              </a:rPr>
              <a:t>Acknowledgement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>
                <a:solidFill>
                  <a:srgbClr val="FFFFFF"/>
                </a:solidFill>
              </a:rPr>
              <a:t>We sincerely express our gratitude to our instructor, Sayan Sau, for his continuous guidance, support, and valuable insights throughout the development of this project.</a:t>
            </a:r>
          </a:p>
          <a:p>
            <a:endParaRPr sz="1800">
              <a:solidFill>
                <a:srgbClr val="FFFFFF"/>
              </a:solidFill>
            </a:endParaRPr>
          </a:p>
          <a:p>
            <a:r>
              <a:rPr sz="1800">
                <a:solidFill>
                  <a:srgbClr val="FFFFFF"/>
                </a:solidFill>
              </a:rPr>
              <a:t>His mentorship and encouragement helped us successfully complete this Hospital Patient Billing Management System.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50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28800" y="2286000"/>
            <a:ext cx="45720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</a:rPr>
              <a:t>THANK YOU!</a:t>
            </a:r>
          </a:p>
          <a:p>
            <a:pPr>
              <a:defRPr sz="2200">
                <a:solidFill>
                  <a:srgbClr val="DCDCDC"/>
                </a:solidFill>
              </a:defRPr>
            </a:pPr>
            <a:r>
              <a:rPr sz="1800">
                <a:solidFill>
                  <a:srgbClr val="FFFFFF"/>
                </a:solidFill>
              </a:rP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635D4D"/>
      </a:dk2>
      <a:lt2>
        <a:srgbClr val="D8D6BA"/>
      </a:lt2>
      <a:accent1>
        <a:srgbClr val="9CBEBD"/>
      </a:accent1>
      <a:accent2>
        <a:srgbClr val="D2CB6C"/>
      </a:accent2>
      <a:accent3>
        <a:srgbClr val="9D9A93"/>
      </a:accent3>
      <a:accent4>
        <a:srgbClr val="C89F5D"/>
      </a:accent4>
      <a:accent5>
        <a:srgbClr val="A9A57C"/>
      </a:accent5>
      <a:accent6>
        <a:srgbClr val="95A39D"/>
      </a:accent6>
      <a:hlink>
        <a:srgbClr val="D25814"/>
      </a:hlink>
      <a:folHlink>
        <a:srgbClr val="849A0A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0BDC4BB7-8AF9-46FD-8C32-AB93AC9C410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TM10001115[[fn=Parcel]]</Template>
  <TotalTime>36</TotalTime>
  <Words>368</Words>
  <Application>Microsoft Office PowerPoint</Application>
  <PresentationFormat>On-screen Show (4:3)</PresentationFormat>
  <Paragraphs>62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Gill Sans MT</vt:lpstr>
      <vt:lpstr>Parcel</vt:lpstr>
      <vt:lpstr>PowerPoint Presentation</vt:lpstr>
      <vt:lpstr>Need of This Project</vt:lpstr>
      <vt:lpstr>Project Overview</vt:lpstr>
      <vt:lpstr>Key Features</vt:lpstr>
      <vt:lpstr>Workbook Structure</vt:lpstr>
      <vt:lpstr>Data Cleaning Techniques Used</vt:lpstr>
      <vt:lpstr>Excel Tools &amp; Technologies</vt:lpstr>
      <vt:lpstr>Project Benefits</vt:lpstr>
      <vt:lpstr>Conclusion</vt:lpstr>
      <vt:lpstr>Acknowledgement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jyotirmoy mukherjee</cp:lastModifiedBy>
  <cp:revision>4</cp:revision>
  <dcterms:created xsi:type="dcterms:W3CDTF">2013-01-27T09:14:16Z</dcterms:created>
  <dcterms:modified xsi:type="dcterms:W3CDTF">2026-05-20T01:49:54Z</dcterms:modified>
  <cp:category/>
</cp:coreProperties>
</file>